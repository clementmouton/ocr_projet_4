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Nunito"/>
      <p:regular r:id="rId23"/>
      <p:bold r:id="rId24"/>
      <p:italic r:id="rId25"/>
      <p:boldItalic r:id="rId26"/>
    </p:embeddedFont>
    <p:embeddedFont>
      <p:font typeface="Maven Pro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Nunito-bold.fntdata"/><Relationship Id="rId23" Type="http://schemas.openxmlformats.org/officeDocument/2006/relationships/font" Target="fonts/Nuni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unito-boldItalic.fntdata"/><Relationship Id="rId25" Type="http://schemas.openxmlformats.org/officeDocument/2006/relationships/font" Target="fonts/Nunito-italic.fntdata"/><Relationship Id="rId28" Type="http://schemas.openxmlformats.org/officeDocument/2006/relationships/font" Target="fonts/MavenPro-bold.fntdata"/><Relationship Id="rId27" Type="http://schemas.openxmlformats.org/officeDocument/2006/relationships/font" Target="fonts/MavenPr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b5cbbde937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b5cbbde937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b94872d712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b94872d712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b94872d712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b94872d712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b997dc422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b997dc422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b997dc4229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b997dc422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b94872d712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b94872d712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c25532885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c25532885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c25532885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c25532885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c3ff9dfb1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c3ff9dfb1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b997dc422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b997dc422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956197a4dc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956197a4d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956197a4dc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956197a4dc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956197a4d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956197a4d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 savoir que plus on augmente le seuil, et moins le modèle prédit de “parti”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956197a4dc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956197a4dc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b997dc422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b997dc422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b997dc4229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b997dc422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25"/>
            <a:ext cx="60024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Projet 4 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Classifier automatiquement des informations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51816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Projet de modélisation supervisée - Data Science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Problématique métier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Suite à un taux de démission grandissant, l’entreprise TechNova souhaite en savoir plus sur les raisons de ces nombreux départs.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Les enjeux 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Coût du turnover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Perte de compétences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fr"/>
              <a:t>Impact opérationnel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Objectifs</a:t>
            </a:r>
            <a:endParaRPr/>
          </a:p>
        </p:txBody>
      </p:sp>
      <p:sp>
        <p:nvSpPr>
          <p:cNvPr id="290" name="Google Shape;290;p15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Analyser et comprendre le jeu de données à travers une </a:t>
            </a: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analyse exploratoire approfondie</a:t>
            </a:r>
            <a:b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Mettre en place un </a:t>
            </a: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pipeline de préparation des données robuste</a:t>
            </a: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(nettoyage, encodage, normalisation)</a:t>
            </a:r>
            <a:b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Tester et comparer </a:t>
            </a: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plusieurs modèles de modélisation supervisée</a:t>
            </a:r>
            <a:b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Sélectionner le modèle offrant le </a:t>
            </a: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meilleur compromis entre performance et interprétabilité</a:t>
            </a:r>
            <a:b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Fournir des résultats </a:t>
            </a: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compréhensibles et exploitables d’un point de vue métier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Jeu de données</a:t>
            </a:r>
            <a:endParaRPr/>
          </a:p>
        </p:txBody>
      </p:sp>
      <p:sp>
        <p:nvSpPr>
          <p:cNvPr id="296" name="Google Shape;296;p16"/>
          <p:cNvSpPr txBox="1"/>
          <p:nvPr>
            <p:ph idx="1" type="body"/>
          </p:nvPr>
        </p:nvSpPr>
        <p:spPr>
          <a:xfrm>
            <a:off x="765475" y="1704100"/>
            <a:ext cx="7776600" cy="34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400"/>
              <a:t>Sources :</a:t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</a:pPr>
            <a:r>
              <a:rPr lang="fr" sz="1400"/>
              <a:t>SIRH</a:t>
            </a:r>
            <a:br>
              <a:rPr lang="fr" sz="1400"/>
            </a:b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</a:pPr>
            <a:r>
              <a:rPr lang="fr" sz="1400"/>
              <a:t>Évaluations annuelles</a:t>
            </a:r>
            <a:br>
              <a:rPr lang="fr" sz="1400"/>
            </a:b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</a:pPr>
            <a:r>
              <a:rPr lang="fr" sz="1400"/>
              <a:t>Sondage interne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400"/>
              <a:t>Le jeu de données comprend :</a:t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fr" sz="1400">
                <a:solidFill>
                  <a:srgbClr val="000000"/>
                </a:solidFill>
              </a:rPr>
              <a:t>des variables quantitatives et qualitatives sur différentes données employés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unito"/>
              <a:buChar char="●"/>
            </a:pPr>
            <a:r>
              <a:rPr lang="fr" sz="1400">
                <a:solidFill>
                  <a:srgbClr val="000000"/>
                </a:solidFill>
              </a:rPr>
              <a:t>des informations permettant de distinguer différentes typologies d’employés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fr" sz="1400">
                <a:solidFill>
                  <a:srgbClr val="000000"/>
                </a:solidFill>
              </a:rPr>
              <a:t>une variable cible catégorielle, justifiant une approche par classification supervisée.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Préparation des données</a:t>
            </a:r>
            <a:endParaRPr/>
          </a:p>
        </p:txBody>
      </p:sp>
      <p:sp>
        <p:nvSpPr>
          <p:cNvPr id="302" name="Google Shape;302;p17"/>
          <p:cNvSpPr txBox="1"/>
          <p:nvPr>
            <p:ph idx="1" type="body"/>
          </p:nvPr>
        </p:nvSpPr>
        <p:spPr>
          <a:xfrm>
            <a:off x="1303800" y="1990050"/>
            <a:ext cx="7539900" cy="29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fr" sz="2300"/>
              <a:t>Raw data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fr" sz="2300"/>
              <a:t>→ Cleaning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fr" sz="2300"/>
              <a:t>→ Imputation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fr" sz="2300"/>
              <a:t>→ Encoding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fr" sz="2300"/>
              <a:t>→ Scaling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fr" sz="2300"/>
              <a:t>→ Model</a:t>
            </a:r>
            <a:endParaRPr sz="2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Fusion des datasets</a:t>
            </a:r>
            <a:endParaRPr/>
          </a:p>
        </p:txBody>
      </p:sp>
      <p:sp>
        <p:nvSpPr>
          <p:cNvPr id="308" name="Google Shape;308;p18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Jointure multi-sources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Clé salarié unifiée, validée avec validate=”ont_to_one”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Conservation des informations pertinentes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Vérification de la cohérence globale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Analyse exploratoire des données (EDA)</a:t>
            </a:r>
            <a:endParaRPr/>
          </a:p>
        </p:txBody>
      </p:sp>
      <p:pic>
        <p:nvPicPr>
          <p:cNvPr id="314" name="Google Shape;31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113975"/>
            <a:ext cx="8839198" cy="2943921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9"/>
          <p:cNvSpPr txBox="1"/>
          <p:nvPr>
            <p:ph idx="1" type="body"/>
          </p:nvPr>
        </p:nvSpPr>
        <p:spPr>
          <a:xfrm>
            <a:off x="1303800" y="159787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L’âge est plus concentré autour des 30 ans pour les employés partis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Analyse exploratoire des données (EDA)</a:t>
            </a:r>
            <a:endParaRPr/>
          </a:p>
        </p:txBody>
      </p:sp>
      <p:pic>
        <p:nvPicPr>
          <p:cNvPr id="321" name="Google Shape;32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90362"/>
            <a:ext cx="9143999" cy="3053127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0"/>
          <p:cNvSpPr txBox="1"/>
          <p:nvPr>
            <p:ph idx="1" type="body"/>
          </p:nvPr>
        </p:nvSpPr>
        <p:spPr>
          <a:xfrm>
            <a:off x="1056750" y="159787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Les départs sont plus fréquent avant 15 ans d’ancienneté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Analyse exploratoire des données (EDA)</a:t>
            </a:r>
            <a:endParaRPr/>
          </a:p>
        </p:txBody>
      </p:sp>
      <p:pic>
        <p:nvPicPr>
          <p:cNvPr id="328" name="Google Shape;32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675" y="2199575"/>
            <a:ext cx="8839198" cy="2943921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1"/>
          <p:cNvSpPr txBox="1"/>
          <p:nvPr>
            <p:ph idx="1" type="body"/>
          </p:nvPr>
        </p:nvSpPr>
        <p:spPr>
          <a:xfrm>
            <a:off x="1303800" y="159787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Les employés partis gagnaient moins que les gens qui restent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>
                <a:solidFill>
                  <a:srgbClr val="000000"/>
                </a:solidFill>
              </a:rPr>
              <a:t>Synthèse de l’EDA</a:t>
            </a:r>
            <a:endParaRPr/>
          </a:p>
        </p:txBody>
      </p:sp>
      <p:sp>
        <p:nvSpPr>
          <p:cNvPr id="335" name="Google Shape;335;p22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/>
              <a:t>Âge, ancienneté, évaluation et revenu montrent des différences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fr"/>
              <a:t>Aucun facteur isolé ne suffit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fr"/>
              <a:t>Intérêt d’un modèle multivarié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Baseline</a:t>
            </a:r>
            <a:endParaRPr/>
          </a:p>
        </p:txBody>
      </p:sp>
      <p:sp>
        <p:nvSpPr>
          <p:cNvPr id="341" name="Google Shape;341;p23"/>
          <p:cNvSpPr txBox="1"/>
          <p:nvPr>
            <p:ph idx="1" type="body"/>
          </p:nvPr>
        </p:nvSpPr>
        <p:spPr>
          <a:xfrm>
            <a:off x="1303800" y="1491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Modèle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Régression logistique</a:t>
            </a:r>
            <a:b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Pourquoi ce choix ?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Modèle simple et robuste</a:t>
            </a:r>
            <a:b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Bonne interprétabilité</a:t>
            </a:r>
            <a:b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Référence en classification binaire</a:t>
            </a:r>
            <a:endParaRPr/>
          </a:p>
        </p:txBody>
      </p:sp>
      <p:pic>
        <p:nvPicPr>
          <p:cNvPr id="342" name="Google Shape;34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9500" y="2442763"/>
            <a:ext cx="4486275" cy="63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Validation croisée sur le train</a:t>
            </a:r>
            <a:endParaRPr/>
          </a:p>
        </p:txBody>
      </p:sp>
      <p:sp>
        <p:nvSpPr>
          <p:cNvPr id="348" name="Google Shape;348;p2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49" name="Google Shape;34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6402" y="1990050"/>
            <a:ext cx="6611186" cy="254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Résultat sur le test</a:t>
            </a:r>
            <a:endParaRPr/>
          </a:p>
        </p:txBody>
      </p:sp>
      <p:sp>
        <p:nvSpPr>
          <p:cNvPr id="355" name="Google Shape;355;p25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Performance cohérente avec la CV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Généralisation correcte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Pas d’underfitting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Prédit beaucoup de faux positif</a:t>
            </a:r>
            <a:endParaRPr/>
          </a:p>
        </p:txBody>
      </p:sp>
      <p:pic>
        <p:nvPicPr>
          <p:cNvPr id="356" name="Google Shape;35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3788" y="3620275"/>
            <a:ext cx="2162175" cy="14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3851" y="1425050"/>
            <a:ext cx="4269875" cy="3671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Optimisation du seuil</a:t>
            </a:r>
            <a:endParaRPr/>
          </a:p>
        </p:txBody>
      </p:sp>
      <p:sp>
        <p:nvSpPr>
          <p:cNvPr id="363" name="Google Shape;363;p26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Seuil par défaut : 0.5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/>
              <a:t>Seuil optimisé via cross-validation : ~0.74</a:t>
            </a:r>
            <a:endParaRPr/>
          </a:p>
        </p:txBody>
      </p:sp>
      <p:pic>
        <p:nvPicPr>
          <p:cNvPr id="364" name="Google Shape;36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775" y="3089550"/>
            <a:ext cx="3985225" cy="195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8112" y="1410300"/>
            <a:ext cx="3791060" cy="325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SHAP : Importance Globale</a:t>
            </a:r>
            <a:endParaRPr/>
          </a:p>
        </p:txBody>
      </p:sp>
      <p:sp>
        <p:nvSpPr>
          <p:cNvPr id="371" name="Google Shape;371;p27"/>
          <p:cNvSpPr txBox="1"/>
          <p:nvPr>
            <p:ph idx="1" type="body"/>
          </p:nvPr>
        </p:nvSpPr>
        <p:spPr>
          <a:xfrm>
            <a:off x="1056750" y="159787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000"/>
              <a:t>Lecture métier :</a:t>
            </a:r>
            <a:endParaRPr sz="1000"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fr" sz="1000"/>
              <a:t>Âge : les plus jeunes ont plus de probabilité de départ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fr" sz="1000"/>
              <a:t>Niveau hiérarchique élevé → plus de départ ?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fr" sz="1000"/>
              <a:t>Longue durée sans promotion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fr" sz="1000"/>
              <a:t>Peu de temps sous le responsable actuel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fr" sz="1000"/>
              <a:t>Beaucoup d’expériences précédentes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/>
          </a:p>
        </p:txBody>
      </p:sp>
      <p:pic>
        <p:nvPicPr>
          <p:cNvPr id="372" name="Google Shape;37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9412" y="3428600"/>
            <a:ext cx="4745171" cy="1440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533" y="4869436"/>
            <a:ext cx="1947300" cy="274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Limite du projet	</a:t>
            </a:r>
            <a:endParaRPr/>
          </a:p>
        </p:txBody>
      </p:sp>
      <p:sp>
        <p:nvSpPr>
          <p:cNvPr id="379" name="Google Shape;379;p28"/>
          <p:cNvSpPr txBox="1"/>
          <p:nvPr>
            <p:ph idx="1" type="body"/>
          </p:nvPr>
        </p:nvSpPr>
        <p:spPr>
          <a:xfrm>
            <a:off x="12645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/>
              <a:t>Le côté simulé et limité des données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/>
              <a:t>Pas de dimension temporelle</a:t>
            </a:r>
            <a:r>
              <a:rPr lang="fr"/>
              <a:t>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/>
              <a:t>Manque d’informations hors professionnels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/>
              <a:t>Corrélation =/= causalité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/>
              <a:t>Sensibilité au déséquilibre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Conclusion</a:t>
            </a:r>
            <a:endParaRPr/>
          </a:p>
        </p:txBody>
      </p:sp>
      <p:sp>
        <p:nvSpPr>
          <p:cNvPr id="385" name="Google Shape;385;p29"/>
          <p:cNvSpPr txBox="1"/>
          <p:nvPr>
            <p:ph idx="1" type="body"/>
          </p:nvPr>
        </p:nvSpPr>
        <p:spPr>
          <a:xfrm>
            <a:off x="175100" y="1706550"/>
            <a:ext cx="8778300" cy="318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f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🔍 Ce que montre la data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Modèle robuste et stable</a:t>
            </a:r>
            <a:b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ROC-AUC ≈ 0.82</a:t>
            </a:r>
            <a:b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Interprétable (SHAP)</a:t>
            </a:r>
            <a:b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f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Seuil ajustable selon stratégie RH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